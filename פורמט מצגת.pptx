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6"/>
  </p:notesMasterIdLst>
  <p:sldIdLst>
    <p:sldId id="6501" r:id="rId2"/>
    <p:sldId id="6584" r:id="rId3"/>
    <p:sldId id="1032" r:id="rId4"/>
    <p:sldId id="260" r:id="rId5"/>
    <p:sldId id="258" r:id="rId6"/>
    <p:sldId id="259" r:id="rId7"/>
    <p:sldId id="1041" r:id="rId8"/>
    <p:sldId id="6585" r:id="rId9"/>
    <p:sldId id="262" r:id="rId10"/>
    <p:sldId id="265" r:id="rId11"/>
    <p:sldId id="6595" r:id="rId12"/>
    <p:sldId id="6591" r:id="rId13"/>
    <p:sldId id="261" r:id="rId14"/>
    <p:sldId id="267" r:id="rId1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698" autoAdjust="0"/>
    <p:restoredTop sz="94660"/>
  </p:normalViewPr>
  <p:slideViewPr>
    <p:cSldViewPr snapToGrid="0">
      <p:cViewPr varScale="1">
        <p:scale>
          <a:sx n="79" d="100"/>
          <a:sy n="79" d="100"/>
        </p:scale>
        <p:origin x="3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e-IL" dirty="0">
                <a:cs typeface="Calibri" panose="020F0502020204030204" pitchFamily="34" charset="0"/>
              </a:rPr>
              <a:t>ממצאים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CE2-B847-B87A-925A8034574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CE2-B847-B87A-925A8034574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CE2-B847-B87A-925A80345749}"/>
              </c:ext>
            </c:extLst>
          </c:dPt>
          <c:cat>
            <c:strRef>
              <c:f>Sheet1!$A$2:$A$4</c:f>
              <c:strCache>
                <c:ptCount val="3"/>
                <c:pt idx="0">
                  <c:v>חיובי</c:v>
                </c:pt>
                <c:pt idx="1">
                  <c:v>שלילי</c:v>
                </c:pt>
                <c:pt idx="2">
                  <c:v>לא רלוונטי/אולי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CE2-B847-B87A-925A803457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65B8430-FC5F-4C44-8F94-A4E17BC4295C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91DF9C6-E0F4-4224-AD06-59ED308D8E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357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7582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7D090089-AA4D-CFB2-7845-9B0C7AA06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4F70D402-6D89-5841-A0F9-CDF00B3D5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  <a:endParaRPr dirty="0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0E17AD61-0F08-5372-E3D7-1D507D8475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9041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5434917" y="6426312"/>
            <a:ext cx="4157812" cy="33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4101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5:notes"/>
          <p:cNvSpPr txBox="1">
            <a:spLocks noGrp="1"/>
          </p:cNvSpPr>
          <p:nvPr>
            <p:ph type="sldNum" idx="12"/>
          </p:nvPr>
        </p:nvSpPr>
        <p:spPr>
          <a:xfrm>
            <a:off x="5434917" y="6426312"/>
            <a:ext cx="4157812" cy="33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1919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3:notes"/>
          <p:cNvSpPr txBox="1">
            <a:spLocks noGrp="1"/>
          </p:cNvSpPr>
          <p:nvPr>
            <p:ph type="sldNum" idx="12"/>
          </p:nvPr>
        </p:nvSpPr>
        <p:spPr>
          <a:xfrm>
            <a:off x="5434917" y="6426312"/>
            <a:ext cx="4157812" cy="33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4347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4:notes"/>
          <p:cNvSpPr txBox="1">
            <a:spLocks noGrp="1"/>
          </p:cNvSpPr>
          <p:nvPr>
            <p:ph type="sldNum" idx="12"/>
          </p:nvPr>
        </p:nvSpPr>
        <p:spPr>
          <a:xfrm>
            <a:off x="5434917" y="6426312"/>
            <a:ext cx="4157812" cy="33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7078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5:notes"/>
          <p:cNvSpPr txBox="1">
            <a:spLocks noGrp="1"/>
          </p:cNvSpPr>
          <p:nvPr>
            <p:ph type="sldNum" idx="12"/>
          </p:nvPr>
        </p:nvSpPr>
        <p:spPr>
          <a:xfrm>
            <a:off x="5434917" y="6426312"/>
            <a:ext cx="4157812" cy="33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5691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281FC4AD-A71B-3D82-02CA-356A3AD60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>
            <a:extLst>
              <a:ext uri="{FF2B5EF4-FFF2-40B4-BE49-F238E27FC236}">
                <a16:creationId xmlns:a16="http://schemas.microsoft.com/office/drawing/2014/main" id="{15B41BB5-80E1-A439-DEEB-0D6DFF449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C3B76D4E-BAFF-9E84-0132-3548E4048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E05490C5-64B2-9675-5E3C-2DB92EB30D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434917" y="6426312"/>
            <a:ext cx="4157812" cy="33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5081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p7:notes"/>
          <p:cNvSpPr txBox="1">
            <a:spLocks noGrp="1"/>
          </p:cNvSpPr>
          <p:nvPr>
            <p:ph type="sldNum" idx="12"/>
          </p:nvPr>
        </p:nvSpPr>
        <p:spPr>
          <a:xfrm>
            <a:off x="5434917" y="6426312"/>
            <a:ext cx="4157812" cy="33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5468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10:notes"/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10:notes"/>
          <p:cNvSpPr txBox="1">
            <a:spLocks noGrp="1"/>
          </p:cNvSpPr>
          <p:nvPr>
            <p:ph type="sldNum" idx="12"/>
          </p:nvPr>
        </p:nvSpPr>
        <p:spPr>
          <a:xfrm>
            <a:off x="5434917" y="6426312"/>
            <a:ext cx="4157812" cy="33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2895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57345C9-8625-5F3E-60B9-42370EF0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2D0AD6D8-A5A8-ECC3-CFDD-7B4DE5D63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10FB7C2-A883-3E8D-5B13-DA70E9BA69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A35A737-1AEB-3792-59ED-B0E00747C9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434917" y="6426312"/>
            <a:ext cx="4157812" cy="33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9505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FD66E4A8-2607-9F4D-8B1F-6B37572B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DD60CA3-8C74-3999-EBC1-07682E6A86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45C1CED-522A-D1BA-4986-1D2C7587A1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050AA1C-7292-7500-0935-0EF8AE6C58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434917" y="6426312"/>
            <a:ext cx="4157812" cy="33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6684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ירגיש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אנחנו רוצים שהצופה יבין/יזכור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dirty="0"/>
              <a:t>מה השאלות/התנגדויות שעולות לצופה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1" name="Google Shape;131;p6:notes"/>
          <p:cNvSpPr txBox="1">
            <a:spLocks noGrp="1"/>
          </p:cNvSpPr>
          <p:nvPr>
            <p:ph type="sldNum" idx="12"/>
          </p:nvPr>
        </p:nvSpPr>
        <p:spPr>
          <a:xfrm>
            <a:off x="5434917" y="6426312"/>
            <a:ext cx="4157812" cy="33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024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>
            <a:spLocks noGrp="1"/>
          </p:cNvSpPr>
          <p:nvPr>
            <p:ph type="body" idx="1"/>
          </p:nvPr>
        </p:nvSpPr>
        <p:spPr>
          <a:xfrm>
            <a:off x="959495" y="3256029"/>
            <a:ext cx="7675960" cy="26640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68600" y="846138"/>
            <a:ext cx="4057650" cy="228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8383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1D297E-7A46-665E-64DC-2FB3781CA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A47B57D-027F-84F4-82E8-5533B0914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D19930F-799A-8226-FC81-C1716717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B953FE6-8395-EF74-904C-93645C420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076CD4A-2C38-9C6F-4026-21206A3C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3965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5A73082-242F-3E80-96E4-EEFC78978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51AAF91-B6A1-6870-3EE0-0CC039BB7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3C7C5F0-BC40-9ED7-F157-CD8CA63F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65D108C-7792-E401-2D21-1EB09C88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BEBC0F4-C0F2-3C94-7226-FA884BE7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35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B04E33-83D9-6993-BC16-CD565FC14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539E319-21E8-FE79-7D8F-D6BA1E35F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8575251-6F11-67F4-3530-BD1B707A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C214E1-12EA-6D86-8C3C-96D5331B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D98CA55-1A5B-B8C9-AB9C-1D779B85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899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B954222-C49C-2073-6735-5945F9F8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A555484-D571-2525-F294-77F2A98D5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F7B0955-CED5-B2C6-F21A-3A449371F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3983056-E70F-D672-2DAC-95913266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C20C17B-4214-4F96-9216-AFB652C0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3AA52B4-7D0D-40D1-C708-6C9C33C86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0190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844E3A5-A1CE-B0A6-061B-10F53F4EE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025B91B-5839-4803-7EC6-469A1EC5E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F704813-56E8-6CA4-EB31-4286B7768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296C846-D6AD-4228-237D-C3B90D072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348B1CE-80C6-27F4-B10D-2017E6235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C1709077-21F9-AE20-D79E-C97AE04E6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F9547C8-FAB2-32FD-550A-8C4E3BA1F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2AC88F3-270C-51E0-8621-39AC95769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3749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118A14-4C25-77CF-20EB-8CD8E19E6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0079387B-816F-8CF3-73BC-351317669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904DB20-1C07-8D81-2145-8E7B8C0A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EE298CB-A7DA-EABE-19CB-35B82176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0067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46282DC-1DB1-8B3D-0A0A-62A15CA5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A5081AD-A43B-C480-10A4-7D67223FC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D04B2D4-AD5E-4E37-582E-C3A9D878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6873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721E55-2550-4140-CDD5-C2700D910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653AC1E-9501-A053-F4A6-8726D25AE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C6DB730-E380-1ED7-E521-3EC9B285B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481B8BB-A56D-6E04-EC04-D901C9FE5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C6DE2C1-04C5-6663-E2F9-E569561F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EBF3313-27F0-9856-0A76-300FA5E2A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5861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9FD5F2-17E0-19BC-02DF-685E78FA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AEF593C-3833-8E4D-ADA4-E7D9C8B5D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7425BB9-2E7F-6859-A3D3-21985EF50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7546E71-845D-F757-4D2F-8F5C4D373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EFD1ACA-4259-0634-6B6C-DB650BDF9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B983EFC-3C7D-389E-1049-74C71D0D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458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C83BCC5-4057-65BB-3CD4-0CED2F46E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405C232-09DF-7556-E04A-AA3FA9391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DB5CD19-D347-FDAD-0722-A39B6475F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0908F21-81D3-4CAC-CE0C-7611A8FE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7ACDE2F-B704-4837-24FB-276A9F9A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40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233ED86-92E6-51AB-42E6-0831349D4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7F802EB-B9B2-650F-0169-5361CBC2A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FE28495-522E-A0A9-89E5-16C7400D9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BC33A9D-843D-5F8F-644C-2CEB4A683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C824026-EDFA-7C2F-DF55-8A5CFDE6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2195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bg>
      <p:bgPr>
        <a:solidFill>
          <a:schemeClr val="bg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571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קבוצה 25">
            <a:extLst>
              <a:ext uri="{FF2B5EF4-FFF2-40B4-BE49-F238E27FC236}">
                <a16:creationId xmlns:a16="http://schemas.microsoft.com/office/drawing/2014/main" id="{FB81AAC2-03C1-B286-2D76-89482DEB9078}"/>
              </a:ext>
            </a:extLst>
          </p:cNvPr>
          <p:cNvGrpSpPr/>
          <p:nvPr userDrawn="1"/>
        </p:nvGrpSpPr>
        <p:grpSpPr>
          <a:xfrm>
            <a:off x="-304800" y="63075"/>
            <a:ext cx="12496800" cy="1583163"/>
            <a:chOff x="-561188" y="-1012870"/>
            <a:chExt cx="18953637" cy="2620521"/>
          </a:xfrm>
        </p:grpSpPr>
        <p:grpSp>
          <p:nvGrpSpPr>
            <p:cNvPr id="17" name="Group 100">
              <a:extLst>
                <a:ext uri="{FF2B5EF4-FFF2-40B4-BE49-F238E27FC236}">
                  <a16:creationId xmlns:a16="http://schemas.microsoft.com/office/drawing/2014/main" id="{AA1E81CF-2FD1-479A-FB0C-F44F97612589}"/>
                </a:ext>
              </a:extLst>
            </p:cNvPr>
            <p:cNvGrpSpPr/>
            <p:nvPr userDrawn="1"/>
          </p:nvGrpSpPr>
          <p:grpSpPr>
            <a:xfrm rot="-10800000">
              <a:off x="-104448" y="-878893"/>
              <a:ext cx="18496897" cy="2486544"/>
              <a:chOff x="0" y="0"/>
              <a:chExt cx="8880639" cy="1193827"/>
            </a:xfrm>
          </p:grpSpPr>
          <p:sp>
            <p:nvSpPr>
              <p:cNvPr id="18" name="Freeform 101">
                <a:extLst>
                  <a:ext uri="{FF2B5EF4-FFF2-40B4-BE49-F238E27FC236}">
                    <a16:creationId xmlns:a16="http://schemas.microsoft.com/office/drawing/2014/main" id="{24801AA9-0C5C-A984-E5D9-F31929C3FF4B}"/>
                  </a:ext>
                </a:extLst>
              </p:cNvPr>
              <p:cNvSpPr/>
              <p:nvPr/>
            </p:nvSpPr>
            <p:spPr>
              <a:xfrm>
                <a:off x="0" y="0"/>
                <a:ext cx="8880639" cy="1193827"/>
              </a:xfrm>
              <a:custGeom>
                <a:avLst/>
                <a:gdLst/>
                <a:ahLst/>
                <a:cxnLst/>
                <a:rect l="l" t="t" r="r" b="b"/>
                <a:pathLst>
                  <a:path w="8880639" h="1193827">
                    <a:moveTo>
                      <a:pt x="0" y="0"/>
                    </a:moveTo>
                    <a:lnTo>
                      <a:pt x="8880639" y="0"/>
                    </a:lnTo>
                    <a:lnTo>
                      <a:pt x="8880639" y="1193827"/>
                    </a:lnTo>
                    <a:lnTo>
                      <a:pt x="0" y="119382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9E6EE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19" name="TextBox 102">
                <a:extLst>
                  <a:ext uri="{FF2B5EF4-FFF2-40B4-BE49-F238E27FC236}">
                    <a16:creationId xmlns:a16="http://schemas.microsoft.com/office/drawing/2014/main" id="{9E933FC7-7B5A-6745-8273-D6FE536D860E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8880639" cy="1203352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marL="0" lvl="0" indent="0" algn="ctr">
                  <a:lnSpc>
                    <a:spcPts val="1346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0" name="Group 103">
              <a:extLst>
                <a:ext uri="{FF2B5EF4-FFF2-40B4-BE49-F238E27FC236}">
                  <a16:creationId xmlns:a16="http://schemas.microsoft.com/office/drawing/2014/main" id="{EEDDF14B-2139-1978-88C3-4FECBDD74613}"/>
                </a:ext>
              </a:extLst>
            </p:cNvPr>
            <p:cNvGrpSpPr/>
            <p:nvPr userDrawn="1"/>
          </p:nvGrpSpPr>
          <p:grpSpPr>
            <a:xfrm rot="-5400000">
              <a:off x="-306809" y="-914958"/>
              <a:ext cx="1963708" cy="1767883"/>
              <a:chOff x="0" y="0"/>
              <a:chExt cx="406400" cy="365873"/>
            </a:xfrm>
          </p:grpSpPr>
          <p:sp>
            <p:nvSpPr>
              <p:cNvPr id="21" name="Freeform 104">
                <a:extLst>
                  <a:ext uri="{FF2B5EF4-FFF2-40B4-BE49-F238E27FC236}">
                    <a16:creationId xmlns:a16="http://schemas.microsoft.com/office/drawing/2014/main" id="{557E7DD6-E723-E182-365A-42A9C2944125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36587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65873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365873"/>
                    </a:lnTo>
                    <a:lnTo>
                      <a:pt x="406400" y="36587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1499BD"/>
              </a:solidFill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2" name="TextBox 105">
                <a:extLst>
                  <a:ext uri="{FF2B5EF4-FFF2-40B4-BE49-F238E27FC236}">
                    <a16:creationId xmlns:a16="http://schemas.microsoft.com/office/drawing/2014/main" id="{3353E6F9-B3F5-F6E1-AEBF-D40A3145F19F}"/>
                  </a:ext>
                </a:extLst>
              </p:cNvPr>
              <p:cNvSpPr txBox="1"/>
              <p:nvPr/>
            </p:nvSpPr>
            <p:spPr>
              <a:xfrm>
                <a:off x="101600" y="-9525"/>
                <a:ext cx="203200" cy="375398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1346"/>
                  </a:lnSpc>
                </a:pPr>
                <a:endParaRPr/>
              </a:p>
            </p:txBody>
          </p:sp>
        </p:grpSp>
        <p:grpSp>
          <p:nvGrpSpPr>
            <p:cNvPr id="23" name="Group 106">
              <a:extLst>
                <a:ext uri="{FF2B5EF4-FFF2-40B4-BE49-F238E27FC236}">
                  <a16:creationId xmlns:a16="http://schemas.microsoft.com/office/drawing/2014/main" id="{0884E39A-5412-F17A-D17D-26859DCAD6CA}"/>
                </a:ext>
              </a:extLst>
            </p:cNvPr>
            <p:cNvGrpSpPr/>
            <p:nvPr userDrawn="1"/>
          </p:nvGrpSpPr>
          <p:grpSpPr>
            <a:xfrm>
              <a:off x="-561188" y="-31016"/>
              <a:ext cx="2194946" cy="1638667"/>
              <a:chOff x="0" y="0"/>
              <a:chExt cx="406400" cy="303403"/>
            </a:xfrm>
          </p:grpSpPr>
          <p:sp>
            <p:nvSpPr>
              <p:cNvPr id="24" name="Freeform 107">
                <a:extLst>
                  <a:ext uri="{FF2B5EF4-FFF2-40B4-BE49-F238E27FC236}">
                    <a16:creationId xmlns:a16="http://schemas.microsoft.com/office/drawing/2014/main" id="{16714DB0-C229-10BD-5199-2973276D41D2}"/>
                  </a:ext>
                </a:extLst>
              </p:cNvPr>
              <p:cNvSpPr/>
              <p:nvPr/>
            </p:nvSpPr>
            <p:spPr>
              <a:xfrm>
                <a:off x="0" y="0"/>
                <a:ext cx="406400" cy="303403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303403">
                    <a:moveTo>
                      <a:pt x="203200" y="0"/>
                    </a:moveTo>
                    <a:lnTo>
                      <a:pt x="0" y="0"/>
                    </a:lnTo>
                    <a:lnTo>
                      <a:pt x="203200" y="303403"/>
                    </a:lnTo>
                    <a:lnTo>
                      <a:pt x="406400" y="303403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9E6EE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he-IL"/>
              </a:p>
            </p:txBody>
          </p:sp>
          <p:sp>
            <p:nvSpPr>
              <p:cNvPr id="25" name="TextBox 108">
                <a:extLst>
                  <a:ext uri="{FF2B5EF4-FFF2-40B4-BE49-F238E27FC236}">
                    <a16:creationId xmlns:a16="http://schemas.microsoft.com/office/drawing/2014/main" id="{DB4B269D-1EA3-8F07-93F1-0355BCF2D895}"/>
                  </a:ext>
                </a:extLst>
              </p:cNvPr>
              <p:cNvSpPr txBox="1"/>
              <p:nvPr/>
            </p:nvSpPr>
            <p:spPr>
              <a:xfrm>
                <a:off x="101600" y="-9525"/>
                <a:ext cx="203200" cy="312928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1346"/>
                  </a:lnSpc>
                </a:pPr>
                <a:endParaRPr/>
              </a:p>
            </p:txBody>
          </p:sp>
        </p:grpSp>
      </p:grpSp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EB42E39F-A3C6-AA75-F1D0-B1CDBF0BD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3446F15-DBC3-784E-3F05-D59314FF8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88143D7-7994-9AFD-C6DC-B669CE624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9ABA2-AD09-4B4B-BA4B-CA2D93A6EE04}" type="datetimeFigureOut">
              <a:rPr lang="he-IL" smtClean="0"/>
              <a:t>ז'/תמוז/תשפ"ו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17EC581-6B4D-31FA-C8E2-E235BB13A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588C174-2F15-6D13-B762-57AFB69D9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4F78E-1EC1-4039-97B3-A0B12C2F350D}" type="slidenum">
              <a:rPr lang="he-IL" smtClean="0"/>
              <a:t>‹#›</a:t>
            </a:fld>
            <a:endParaRPr lang="he-IL"/>
          </a:p>
        </p:txBody>
      </p:sp>
      <p:grpSp>
        <p:nvGrpSpPr>
          <p:cNvPr id="7" name="Group 19">
            <a:extLst>
              <a:ext uri="{FF2B5EF4-FFF2-40B4-BE49-F238E27FC236}">
                <a16:creationId xmlns:a16="http://schemas.microsoft.com/office/drawing/2014/main" id="{C0334FFE-82B4-2C04-F907-734B03BCA9D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526" y="49685"/>
            <a:ext cx="1199739" cy="568766"/>
            <a:chOff x="0" y="0"/>
            <a:chExt cx="1599652" cy="758354"/>
          </a:xfrm>
        </p:grpSpPr>
        <p:sp>
          <p:nvSpPr>
            <p:cNvPr id="8" name="Freeform 20" descr="תמונה שמכילה גרפיקה, עיצוב גרפי, אומנות, עיצוב  התיאור נוצר באופן אוטומטי">
              <a:extLst>
                <a:ext uri="{FF2B5EF4-FFF2-40B4-BE49-F238E27FC236}">
                  <a16:creationId xmlns:a16="http://schemas.microsoft.com/office/drawing/2014/main" id="{D330BC6B-96BF-F776-5204-03419B0FDD8E}"/>
                </a:ext>
              </a:extLst>
            </p:cNvPr>
            <p:cNvSpPr/>
            <p:nvPr/>
          </p:nvSpPr>
          <p:spPr>
            <a:xfrm>
              <a:off x="0" y="0"/>
              <a:ext cx="1599692" cy="758317"/>
            </a:xfrm>
            <a:custGeom>
              <a:avLst/>
              <a:gdLst/>
              <a:ahLst/>
              <a:cxnLst/>
              <a:rect l="l" t="t" r="r" b="b"/>
              <a:pathLst>
                <a:path w="1599692" h="758317">
                  <a:moveTo>
                    <a:pt x="0" y="0"/>
                  </a:moveTo>
                  <a:lnTo>
                    <a:pt x="1599692" y="0"/>
                  </a:lnTo>
                  <a:lnTo>
                    <a:pt x="1599692" y="758317"/>
                  </a:lnTo>
                  <a:lnTo>
                    <a:pt x="0" y="758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60" r="-58" b="-4"/>
              </a:stretch>
            </a:blipFill>
          </p:spPr>
          <p:txBody>
            <a:bodyPr/>
            <a:lstStyle/>
            <a:p>
              <a:endParaRPr lang="en-IL"/>
            </a:p>
          </p:txBody>
        </p:sp>
      </p:grpSp>
      <p:sp>
        <p:nvSpPr>
          <p:cNvPr id="16" name="Freeform 11">
            <a:extLst>
              <a:ext uri="{FF2B5EF4-FFF2-40B4-BE49-F238E27FC236}">
                <a16:creationId xmlns:a16="http://schemas.microsoft.com/office/drawing/2014/main" id="{94FA4E1E-266D-CD40-D840-FA838E550C79}"/>
              </a:ext>
            </a:extLst>
          </p:cNvPr>
          <p:cNvSpPr/>
          <p:nvPr userDrawn="1"/>
        </p:nvSpPr>
        <p:spPr>
          <a:xfrm>
            <a:off x="158391" y="464171"/>
            <a:ext cx="984014" cy="833024"/>
          </a:xfrm>
          <a:prstGeom prst="ellipse">
            <a:avLst/>
          </a:prstGeom>
          <a:blipFill>
            <a:blip r:embed="rId15"/>
            <a:srcRect/>
            <a:stretch>
              <a:fillRect l="-808207" t="-44065" r="-68776" b="-34820"/>
            </a:stretch>
          </a:blipFill>
        </p:spPr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6090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6010275" y="3274135"/>
            <a:ext cx="5549191" cy="836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iw-IL" sz="4400" dirty="0">
                <a:solidFill>
                  <a:schemeClr val="tx1"/>
                </a:solidFill>
                <a:latin typeface="Tahoma"/>
                <a:ea typeface="Tahoma"/>
                <a:cs typeface="Tahoma"/>
                <a:sym typeface="Tahoma"/>
              </a:rPr>
              <a:t>שם המיזם</a:t>
            </a:r>
            <a:endParaRPr sz="4400" dirty="0">
              <a:solidFill>
                <a:schemeClr val="tx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060504" y="3537723"/>
            <a:ext cx="34322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1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2400"/>
              <a:buFontTx/>
              <a:buNone/>
              <a:tabLst/>
              <a:defRPr/>
            </a:pPr>
            <a:endParaRPr kumimoji="0" lang="he-IL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95228" y="3382858"/>
            <a:ext cx="3940628" cy="61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he-IL" sz="66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לוגו</a:t>
            </a:r>
            <a:endParaRPr kumimoji="0" sz="6600" b="0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89;p1">
            <a:extLst>
              <a:ext uri="{FF2B5EF4-FFF2-40B4-BE49-F238E27FC236}">
                <a16:creationId xmlns:a16="http://schemas.microsoft.com/office/drawing/2014/main" id="{594CD283-7754-E2BA-D097-2E076B9C3BA7}"/>
              </a:ext>
            </a:extLst>
          </p:cNvPr>
          <p:cNvSpPr txBox="1">
            <a:spLocks/>
          </p:cNvSpPr>
          <p:nvPr/>
        </p:nvSpPr>
        <p:spPr>
          <a:xfrm>
            <a:off x="6010275" y="4111044"/>
            <a:ext cx="5549191" cy="8369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1" anchor="ctr" anchorCtr="0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buClr>
                <a:schemeClr val="lt1"/>
              </a:buClr>
              <a:buSzPts val="4400"/>
            </a:pPr>
            <a:r>
              <a:rPr lang="he-IL" sz="3600" dirty="0">
                <a:latin typeface="Tahoma"/>
                <a:ea typeface="Tahoma"/>
                <a:cs typeface="Tahoma"/>
                <a:sym typeface="Tahoma"/>
              </a:rPr>
              <a:t>צוות</a:t>
            </a:r>
            <a:endParaRPr lang="iw-IL" sz="3600" dirty="0"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594166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4E07C3B-814C-AA6C-86CA-AC4C5592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A picture containing sitting, building, blue, boat&#10;&#10;Description automatically generated">
            <a:extLst>
              <a:ext uri="{FF2B5EF4-FFF2-40B4-BE49-F238E27FC236}">
                <a16:creationId xmlns:a16="http://schemas.microsoft.com/office/drawing/2014/main" id="{D27880DF-3635-DF94-9BF0-73280BCC01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686" y="1869930"/>
            <a:ext cx="3940629" cy="467828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5F2D012E-466B-CE20-9D96-8F71DDC6EB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96000" y="2700814"/>
            <a:ext cx="5549191" cy="836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iw-IL" sz="4400" dirty="0">
                <a:solidFill>
                  <a:schemeClr val="tx1"/>
                </a:solidFill>
                <a:latin typeface="Tahoma"/>
                <a:ea typeface="Tahoma"/>
                <a:cs typeface="Tahoma"/>
                <a:sym typeface="Tahoma"/>
              </a:rPr>
              <a:t>סיפור/נתון חזק</a:t>
            </a:r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AFEAF7AE-8FAC-CCD2-431D-1F0BFA5A5095}"/>
              </a:ext>
            </a:extLst>
          </p:cNvPr>
          <p:cNvSpPr txBox="1"/>
          <p:nvPr/>
        </p:nvSpPr>
        <p:spPr>
          <a:xfrm>
            <a:off x="7060504" y="3537723"/>
            <a:ext cx="34322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1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2400"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סיפור המתאר את הבעיה מנקודת מבט מי שסובל ממנה</a:t>
            </a:r>
          </a:p>
          <a:p>
            <a:pPr marL="0" marR="0" lvl="0" indent="0" algn="r" defTabSz="914400" rtl="1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2400"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2400"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המטרה היא ליצור עניין אוטנטי</a:t>
            </a:r>
          </a:p>
        </p:txBody>
      </p:sp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6E8EE6DA-7AD1-2C29-57FE-AB7974842B74}"/>
              </a:ext>
            </a:extLst>
          </p:cNvPr>
          <p:cNvSpPr txBox="1"/>
          <p:nvPr/>
        </p:nvSpPr>
        <p:spPr>
          <a:xfrm>
            <a:off x="315687" y="2260455"/>
            <a:ext cx="3940628" cy="61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kumimoji="0" lang="iw-IL" sz="2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תמונה המייצגת את המיזם</a:t>
            </a:r>
            <a:endParaRPr kumimoji="0" sz="24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4546A"/>
              </a:buClr>
              <a:buSzPts val="2400"/>
              <a:buFont typeface="Arial"/>
              <a:buNone/>
              <a:tabLst/>
              <a:defRPr/>
            </a:pPr>
            <a:endParaRPr kumimoji="0" sz="24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9280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5238081" y="796842"/>
            <a:ext cx="7077205" cy="732001"/>
          </a:xfrm>
          <a:prstGeom prst="rect">
            <a:avLst/>
          </a:prstGeom>
          <a:solidFill>
            <a:srgbClr val="005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title" idx="4294967295"/>
          </p:nvPr>
        </p:nvSpPr>
        <p:spPr>
          <a:xfrm>
            <a:off x="0" y="500063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iw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תיאור הבעיה</a:t>
            </a:r>
            <a:endParaRPr sz="3600" b="1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4294967295"/>
          </p:nvPr>
        </p:nvSpPr>
        <p:spPr>
          <a:xfrm>
            <a:off x="0" y="2119313"/>
            <a:ext cx="1051560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iw-IL" sz="2400" dirty="0">
                <a:solidFill>
                  <a:schemeClr val="dk2"/>
                </a:solidFill>
              </a:rPr>
              <a:t>תיאור הבעיה ב</a:t>
            </a:r>
            <a:r>
              <a:rPr lang="he-IL" sz="2400" dirty="0">
                <a:solidFill>
                  <a:schemeClr val="dk2"/>
                </a:solidFill>
              </a:rPr>
              <a:t>אופן ברור וחד, </a:t>
            </a:r>
            <a:r>
              <a:rPr lang="he-IL" sz="2400" dirty="0" err="1">
                <a:solidFill>
                  <a:schemeClr val="dk2"/>
                </a:solidFill>
              </a:rPr>
              <a:t>מדוייק</a:t>
            </a:r>
            <a:r>
              <a:rPr lang="he-IL" sz="2400" dirty="0">
                <a:solidFill>
                  <a:schemeClr val="dk2"/>
                </a:solidFill>
              </a:rPr>
              <a:t> </a:t>
            </a:r>
          </a:p>
          <a:p>
            <a:pPr marL="3429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מה קורה היום ולמה זה לא מיטבי</a:t>
            </a:r>
            <a:endParaRPr dirty="0"/>
          </a:p>
          <a:p>
            <a:pPr marL="3429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iw-IL" sz="2400" dirty="0">
                <a:solidFill>
                  <a:schemeClr val="dk2"/>
                </a:solidFill>
              </a:rPr>
              <a:t>יש לציין את </a:t>
            </a:r>
            <a:r>
              <a:rPr lang="iw-IL" b="1" dirty="0">
                <a:solidFill>
                  <a:schemeClr val="dk2"/>
                </a:solidFill>
              </a:rPr>
              <a:t>קהל היעד </a:t>
            </a:r>
            <a:r>
              <a:rPr lang="iw-IL" sz="2400" dirty="0">
                <a:solidFill>
                  <a:schemeClr val="dk2"/>
                </a:solidFill>
              </a:rPr>
              <a:t>הסובל מהבעיה ותת הקבוצה מתוך קהל היעד הסובלת ביותר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653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5238081" y="796842"/>
            <a:ext cx="7077205" cy="732001"/>
          </a:xfrm>
          <a:prstGeom prst="rect">
            <a:avLst/>
          </a:prstGeom>
          <a:solidFill>
            <a:srgbClr val="005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>
            <a:spLocks noGrp="1"/>
          </p:cNvSpPr>
          <p:nvPr>
            <p:ph type="title" idx="4294967295"/>
          </p:nvPr>
        </p:nvSpPr>
        <p:spPr>
          <a:xfrm>
            <a:off x="0" y="500063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iw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מהלך הולידציה</a:t>
            </a:r>
            <a:r>
              <a:rPr lang="he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לבעיה</a:t>
            </a:r>
            <a:endParaRPr sz="3600" b="1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5"/>
          <p:cNvSpPr txBox="1">
            <a:spLocks noGrp="1"/>
          </p:cNvSpPr>
          <p:nvPr>
            <p:ph type="body" idx="4294967295"/>
          </p:nvPr>
        </p:nvSpPr>
        <p:spPr>
          <a:xfrm>
            <a:off x="0" y="2119313"/>
            <a:ext cx="1051560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מה גיליתם שיצאתם לשטח לברר האם הבעיה אמיתית ומשמעותית?</a:t>
            </a:r>
          </a:p>
          <a:p>
            <a:pPr marL="228600" lvl="0" indent="-2286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מה קיים היום ולמה זה לא מיטבי</a:t>
            </a:r>
          </a:p>
          <a:p>
            <a:pPr>
              <a:spcBef>
                <a:spcPts val="0"/>
              </a:spcBef>
              <a:buClr>
                <a:schemeClr val="dk2"/>
              </a:buClr>
              <a:buSzPts val="2400"/>
            </a:pPr>
            <a:r>
              <a:rPr lang="he-IL" sz="2400" dirty="0">
                <a:solidFill>
                  <a:schemeClr val="dk2"/>
                </a:solidFill>
              </a:rPr>
              <a:t>ניתן ומומלץ להציג סקרים, מחקרים וציטוטים</a:t>
            </a:r>
          </a:p>
          <a:p>
            <a:pPr marL="228600" lvl="0" indent="-2286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endParaRPr sz="2400" dirty="0"/>
          </a:p>
        </p:txBody>
      </p:sp>
      <p:sp>
        <p:nvSpPr>
          <p:cNvPr id="124" name="Google Shape;124;p5"/>
          <p:cNvSpPr txBox="1"/>
          <p:nvPr/>
        </p:nvSpPr>
        <p:spPr>
          <a:xfrm>
            <a:off x="7433745" y="4067228"/>
            <a:ext cx="17902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iw-IL" sz="1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סה"כ נבדקים: 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6802556" y="4617644"/>
            <a:ext cx="24267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iw-IL" sz="1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סה"כ תוצאות חיוביות: 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6802556" y="5194218"/>
            <a:ext cx="24267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אחוז </a:t>
            </a:r>
            <a:r>
              <a:rPr kumimoji="0" lang="iw-IL" sz="1800" b="0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תוצאות חיוביות: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" name="Google Shape;127;p5"/>
          <p:cNvGraphicFramePr/>
          <p:nvPr/>
        </p:nvGraphicFramePr>
        <p:xfrm>
          <a:off x="2495600" y="3729409"/>
          <a:ext cx="3287602" cy="21917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12651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5238081" y="796842"/>
            <a:ext cx="7077205" cy="732001"/>
          </a:xfrm>
          <a:prstGeom prst="rect">
            <a:avLst/>
          </a:prstGeom>
          <a:solidFill>
            <a:srgbClr val="005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title" idx="4294967295"/>
          </p:nvPr>
        </p:nvSpPr>
        <p:spPr>
          <a:xfrm>
            <a:off x="0" y="500063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iw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הפתרון</a:t>
            </a:r>
            <a:endParaRPr sz="3600" b="1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" name="Google Shape;107;p3"/>
          <p:cNvSpPr txBox="1">
            <a:spLocks noGrp="1"/>
          </p:cNvSpPr>
          <p:nvPr>
            <p:ph type="body" idx="4294967295"/>
          </p:nvPr>
        </p:nvSpPr>
        <p:spPr>
          <a:xfrm>
            <a:off x="0" y="2119313"/>
            <a:ext cx="1051560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דף עם משפט אחד!</a:t>
            </a:r>
          </a:p>
          <a:p>
            <a:pPr marL="342900" lvl="0" indent="-3429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endParaRPr lang="he-IL" sz="2400" dirty="0">
              <a:solidFill>
                <a:schemeClr val="dk2"/>
              </a:solidFill>
            </a:endParaRPr>
          </a:p>
          <a:p>
            <a:pPr marL="342900" lvl="0" indent="-3429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iw-IL" sz="2400" dirty="0">
                <a:solidFill>
                  <a:schemeClr val="dk2"/>
                </a:solidFill>
              </a:rPr>
              <a:t>משפט כותרת המתאר את הפתרון</a:t>
            </a:r>
            <a:r>
              <a:rPr lang="he-IL" sz="2400" dirty="0">
                <a:solidFill>
                  <a:schemeClr val="dk2"/>
                </a:solidFill>
              </a:rPr>
              <a:t> – מה כתוב על הקופסה הדמיונית של הפתרון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0222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5238081" y="796842"/>
            <a:ext cx="7077205" cy="732001"/>
          </a:xfrm>
          <a:prstGeom prst="rect">
            <a:avLst/>
          </a:prstGeom>
          <a:solidFill>
            <a:srgbClr val="005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>
            <a:spLocks noGrp="1"/>
          </p:cNvSpPr>
          <p:nvPr>
            <p:ph type="title" idx="4294967295"/>
          </p:nvPr>
        </p:nvSpPr>
        <p:spPr>
          <a:xfrm>
            <a:off x="0" y="500063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iw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תיאור</a:t>
            </a:r>
            <a:r>
              <a:rPr lang="he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/הצגת</a:t>
            </a:r>
            <a:r>
              <a:rPr lang="iw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הפתרון</a:t>
            </a:r>
            <a:r>
              <a:rPr lang="he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3600" b="1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5" name="Google Shape;115;p4"/>
          <p:cNvSpPr txBox="1">
            <a:spLocks noGrp="1"/>
          </p:cNvSpPr>
          <p:nvPr>
            <p:ph type="body" idx="4294967295"/>
          </p:nvPr>
        </p:nvSpPr>
        <p:spPr>
          <a:xfrm>
            <a:off x="1046480" y="2122404"/>
            <a:ext cx="1051560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iw-IL" sz="2400" dirty="0">
                <a:solidFill>
                  <a:schemeClr val="dk2"/>
                </a:solidFill>
              </a:rPr>
              <a:t>תיאור הפתרון באופן חזותי – המטרה כאן אינה לייצר עיצוב יפה אלא אמצעי להעברת הפתרון תוך דקה-שתיים</a:t>
            </a:r>
            <a:endParaRPr lang="he-IL" sz="2400" dirty="0">
              <a:solidFill>
                <a:schemeClr val="dk2"/>
              </a:solidFill>
            </a:endParaRPr>
          </a:p>
          <a:p>
            <a:pPr marL="342900" lvl="0" indent="-3429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ניתן לתאר תרשים זרימה, ניתן לתאר את הפונקציונאליות של הפתרון.</a:t>
            </a:r>
            <a:endParaRPr sz="2400" dirty="0">
              <a:solidFill>
                <a:schemeClr val="dk2"/>
              </a:solidFill>
            </a:endParaRPr>
          </a:p>
          <a:p>
            <a:pPr marL="342900" lvl="0" indent="-3429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iw-IL" sz="2400" dirty="0">
                <a:solidFill>
                  <a:schemeClr val="dk2"/>
                </a:solidFill>
              </a:rPr>
              <a:t>אם טכנולוגיה חיצונית מעורבת בפתרון אז יש לציין את חלקה במהלך הפתרון ולהסביר מה ייחודי בה</a:t>
            </a:r>
            <a:endParaRPr lang="en-US" sz="24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61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5146641" y="796842"/>
            <a:ext cx="7077205" cy="732001"/>
          </a:xfrm>
          <a:prstGeom prst="rect">
            <a:avLst/>
          </a:prstGeom>
          <a:solidFill>
            <a:srgbClr val="005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>
            <a:spLocks noGrp="1"/>
          </p:cNvSpPr>
          <p:nvPr>
            <p:ph type="title" idx="4294967295"/>
          </p:nvPr>
        </p:nvSpPr>
        <p:spPr>
          <a:xfrm>
            <a:off x="0" y="500063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iw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מהלך הולידציה</a:t>
            </a:r>
            <a:r>
              <a:rPr lang="he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לפתרון</a:t>
            </a:r>
            <a:endParaRPr sz="3600" b="1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5"/>
          <p:cNvSpPr txBox="1">
            <a:spLocks noGrp="1"/>
          </p:cNvSpPr>
          <p:nvPr>
            <p:ph type="body" idx="4294967295"/>
          </p:nvPr>
        </p:nvSpPr>
        <p:spPr>
          <a:xfrm>
            <a:off x="0" y="2119313"/>
            <a:ext cx="1051560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-191770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2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מה התגובות של המשתמשים על הפתרון המוצע?</a:t>
            </a:r>
          </a:p>
          <a:p>
            <a:pPr marL="0" lvl="0" indent="-191770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2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האם הפתרון הזה או פתרון דומה הוכיח את עצמו בעבר במשימה דומה?</a:t>
            </a:r>
          </a:p>
          <a:p>
            <a:pPr marL="0" indent="-191770">
              <a:lnSpc>
                <a:spcPct val="100000"/>
              </a:lnSpc>
              <a:spcBef>
                <a:spcPts val="600"/>
              </a:spcBef>
              <a:buClr>
                <a:schemeClr val="dk2"/>
              </a:buClr>
              <a:buSzPts val="2220"/>
            </a:pPr>
            <a:r>
              <a:rPr lang="he-IL" sz="2400" dirty="0">
                <a:solidFill>
                  <a:schemeClr val="dk2"/>
                </a:solidFill>
              </a:rPr>
              <a:t>רצוי להשתמש בתרשימים המתארים את חווית קהל היעד במידה שהפתרון יבוצע</a:t>
            </a:r>
          </a:p>
          <a:p>
            <a:pPr marL="0" lvl="0" indent="-191770" algn="r" rtl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2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אילו משאבים ייחודיים יש לצוות שאין לאחרים?</a:t>
            </a:r>
          </a:p>
        </p:txBody>
      </p:sp>
    </p:spTree>
    <p:extLst>
      <p:ext uri="{BB962C8B-B14F-4D97-AF65-F5344CB8AC3E}">
        <p14:creationId xmlns:p14="http://schemas.microsoft.com/office/powerpoint/2010/main" val="1525694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E38B42CB-FD33-E137-F8DE-6E491593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>
            <a:extLst>
              <a:ext uri="{FF2B5EF4-FFF2-40B4-BE49-F238E27FC236}">
                <a16:creationId xmlns:a16="http://schemas.microsoft.com/office/drawing/2014/main" id="{7AA09AFF-BE3C-733B-C916-382BE24A34F2}"/>
              </a:ext>
            </a:extLst>
          </p:cNvPr>
          <p:cNvSpPr/>
          <p:nvPr/>
        </p:nvSpPr>
        <p:spPr>
          <a:xfrm>
            <a:off x="5238081" y="796842"/>
            <a:ext cx="7077205" cy="732001"/>
          </a:xfrm>
          <a:prstGeom prst="rect">
            <a:avLst/>
          </a:prstGeom>
          <a:solidFill>
            <a:srgbClr val="005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>
            <a:extLst>
              <a:ext uri="{FF2B5EF4-FFF2-40B4-BE49-F238E27FC236}">
                <a16:creationId xmlns:a16="http://schemas.microsoft.com/office/drawing/2014/main" id="{C60A6F97-8978-5C69-C163-EEA89180F79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500063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he-IL" sz="3600" b="1" dirty="0" err="1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חזון</a:t>
            </a:r>
            <a:r>
              <a:rPr lang="he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he-IL" sz="3600" b="1" dirty="0" err="1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וסקייל</a:t>
            </a:r>
            <a:endParaRPr sz="3600" b="1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59602F8E-E2DB-3F3B-438A-6D79EEDBC6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46480" y="2122404"/>
            <a:ext cx="1051560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תיאור </a:t>
            </a:r>
            <a:r>
              <a:rPr lang="he-IL" sz="2400" dirty="0" err="1">
                <a:solidFill>
                  <a:schemeClr val="dk2"/>
                </a:solidFill>
              </a:rPr>
              <a:t>חזון</a:t>
            </a:r>
            <a:r>
              <a:rPr lang="he-IL" sz="2400" dirty="0">
                <a:solidFill>
                  <a:schemeClr val="dk2"/>
                </a:solidFill>
              </a:rPr>
              <a:t> הפתרון בפריסה מלאה בשלבים הבאים</a:t>
            </a:r>
          </a:p>
          <a:p>
            <a:pPr marL="342900" lvl="0" indent="-3429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איך יראה המיזם בעוד 5 שנים כשיצליח ויתרחב, איך נראה הפתרון המלא</a:t>
            </a:r>
            <a:endParaRPr lang="en-US" sz="24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201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5238081" y="796842"/>
            <a:ext cx="7077205" cy="732001"/>
          </a:xfrm>
          <a:prstGeom prst="rect">
            <a:avLst/>
          </a:prstGeom>
          <a:solidFill>
            <a:srgbClr val="005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>
            <a:spLocks noGrp="1"/>
          </p:cNvSpPr>
          <p:nvPr>
            <p:ph type="title" idx="4294967295"/>
          </p:nvPr>
        </p:nvSpPr>
        <p:spPr>
          <a:xfrm>
            <a:off x="0" y="500063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he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תוכנית עבודה</a:t>
            </a:r>
            <a:endParaRPr sz="3600" b="1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3" name="Google Shape;143;p7"/>
          <p:cNvSpPr txBox="1">
            <a:spLocks noGrp="1"/>
          </p:cNvSpPr>
          <p:nvPr>
            <p:ph type="body" idx="4294967295"/>
          </p:nvPr>
        </p:nvSpPr>
        <p:spPr>
          <a:xfrm>
            <a:off x="0" y="2119313"/>
            <a:ext cx="1051560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אבני דרך עיקריים בדרך להחזר השקעה</a:t>
            </a:r>
          </a:p>
          <a:p>
            <a:pPr marL="228600" lvl="0" indent="-2286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נא להקפיד על נקודות קריטיות בלבד וזמנים ריאליים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3587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5238081" y="796842"/>
            <a:ext cx="7077205" cy="732001"/>
          </a:xfrm>
          <a:prstGeom prst="rect">
            <a:avLst/>
          </a:prstGeom>
          <a:solidFill>
            <a:srgbClr val="005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 txBox="1">
            <a:spLocks noGrp="1"/>
          </p:cNvSpPr>
          <p:nvPr>
            <p:ph type="title" idx="4294967295"/>
          </p:nvPr>
        </p:nvSpPr>
        <p:spPr>
          <a:xfrm>
            <a:off x="0" y="500063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he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תוכנית עסקית</a:t>
            </a:r>
            <a:endParaRPr sz="3600" b="1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7" name="Google Shape;167;p10"/>
          <p:cNvSpPr txBox="1">
            <a:spLocks noGrp="1"/>
          </p:cNvSpPr>
          <p:nvPr>
            <p:ph type="body" idx="4294967295"/>
          </p:nvPr>
        </p:nvSpPr>
        <p:spPr>
          <a:xfrm>
            <a:off x="0" y="2119313"/>
            <a:ext cx="1051560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מה העלות של הפתרונות האחרים?</a:t>
            </a:r>
          </a:p>
          <a:p>
            <a:pPr marL="2286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מה מודל התמחור, איך המיזם מרוויח כסף?</a:t>
            </a:r>
          </a:p>
          <a:p>
            <a:pPr marL="2286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מה מודל החזר ההשקעה?</a:t>
            </a:r>
          </a:p>
          <a:p>
            <a:pPr marL="2286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endParaRPr dirty="0"/>
          </a:p>
          <a:p>
            <a:pPr marL="228600" lvl="0" indent="-76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879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00E87503-5635-6555-4E51-B7992838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7048B6D1-D791-7A4E-0CE9-3D014E4C527E}"/>
              </a:ext>
            </a:extLst>
          </p:cNvPr>
          <p:cNvSpPr/>
          <p:nvPr/>
        </p:nvSpPr>
        <p:spPr>
          <a:xfrm>
            <a:off x="3724275" y="796842"/>
            <a:ext cx="8591011" cy="732001"/>
          </a:xfrm>
          <a:prstGeom prst="rect">
            <a:avLst/>
          </a:prstGeom>
          <a:solidFill>
            <a:srgbClr val="005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F708509-439B-D100-C378-6C6871106F4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500063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he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פרוט אופן בחינת הפתרון</a:t>
            </a:r>
            <a:endParaRPr sz="3600" b="1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A9CBF43D-7DBE-2203-4141-10AE2662AC3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2119313"/>
            <a:ext cx="1051560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351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4A2B41FF-4418-C0BB-A4E6-3F3826B2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BF617F0E-6BB5-3BDC-6296-FA3904203D2E}"/>
              </a:ext>
            </a:extLst>
          </p:cNvPr>
          <p:cNvSpPr/>
          <p:nvPr/>
        </p:nvSpPr>
        <p:spPr>
          <a:xfrm>
            <a:off x="4295775" y="796842"/>
            <a:ext cx="8019511" cy="732001"/>
          </a:xfrm>
          <a:prstGeom prst="rect">
            <a:avLst/>
          </a:prstGeom>
          <a:solidFill>
            <a:srgbClr val="005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4E39907-FCA2-B762-EAC2-45D73A827B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500063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he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מדדים לבדיקת ההצלחה</a:t>
            </a:r>
            <a:endParaRPr sz="3600" b="1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262C1740-B6B8-30E8-8C03-F828AC88B0E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2119313"/>
            <a:ext cx="10515600" cy="275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9173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3581401" y="796842"/>
            <a:ext cx="8733886" cy="732001"/>
          </a:xfrm>
          <a:prstGeom prst="rect">
            <a:avLst/>
          </a:prstGeom>
          <a:solidFill>
            <a:srgbClr val="00509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>
            <a:spLocks noGrp="1"/>
          </p:cNvSpPr>
          <p:nvPr>
            <p:ph type="title" idx="4294967295"/>
          </p:nvPr>
        </p:nvSpPr>
        <p:spPr>
          <a:xfrm>
            <a:off x="0" y="500063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ahoma"/>
              <a:buNone/>
            </a:pPr>
            <a:r>
              <a:rPr lang="he-IL" sz="36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השלב הבא וקריאה לפעולה</a:t>
            </a:r>
            <a:endParaRPr sz="3600" b="1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p6"/>
          <p:cNvSpPr txBox="1">
            <a:spLocks noGrp="1"/>
          </p:cNvSpPr>
          <p:nvPr>
            <p:ph type="body" idx="4294967295"/>
          </p:nvPr>
        </p:nvSpPr>
        <p:spPr>
          <a:xfrm>
            <a:off x="3088640" y="2119313"/>
            <a:ext cx="7426960" cy="345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iw-IL" sz="2400" dirty="0">
                <a:solidFill>
                  <a:schemeClr val="dk2"/>
                </a:solidFill>
              </a:rPr>
              <a:t>לתאר את שלבי הניסוי</a:t>
            </a:r>
            <a:r>
              <a:rPr lang="he-IL" sz="2400" dirty="0">
                <a:solidFill>
                  <a:schemeClr val="dk2"/>
                </a:solidFill>
              </a:rPr>
              <a:t>/</a:t>
            </a:r>
            <a:r>
              <a:rPr lang="he-IL" sz="2400" dirty="0" err="1">
                <a:solidFill>
                  <a:schemeClr val="dk2"/>
                </a:solidFill>
              </a:rPr>
              <a:t>פילוט</a:t>
            </a:r>
            <a:r>
              <a:rPr lang="iw-IL" sz="2400" dirty="0">
                <a:solidFill>
                  <a:schemeClr val="dk2"/>
                </a:solidFill>
              </a:rPr>
              <a:t> אותו אתם מעוניינים לבצע</a:t>
            </a:r>
            <a:endParaRPr sz="2400" dirty="0">
              <a:solidFill>
                <a:schemeClr val="dk2"/>
              </a:solidFill>
            </a:endParaRPr>
          </a:p>
          <a:p>
            <a:pPr marL="342900" lvl="0" indent="-3429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מה נדרש להתקדמות בתווך הזמן הקצר והארוך</a:t>
            </a:r>
            <a:endParaRPr dirty="0">
              <a:solidFill>
                <a:schemeClr val="dk2"/>
              </a:solidFill>
            </a:endParaRPr>
          </a:p>
          <a:p>
            <a:pPr marL="3429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iw-IL" sz="2400" dirty="0">
                <a:solidFill>
                  <a:schemeClr val="dk2"/>
                </a:solidFill>
              </a:rPr>
              <a:t>לתאר את מדדי </a:t>
            </a:r>
            <a:r>
              <a:rPr lang="he-IL" sz="2400" dirty="0" err="1">
                <a:solidFill>
                  <a:schemeClr val="dk2"/>
                </a:solidFill>
              </a:rPr>
              <a:t>ההצחה</a:t>
            </a:r>
            <a:r>
              <a:rPr lang="iw-IL" sz="2400" dirty="0">
                <a:solidFill>
                  <a:schemeClr val="dk2"/>
                </a:solidFill>
              </a:rPr>
              <a:t> ואת הסף שלדעתכם ייחשב הצלחה</a:t>
            </a:r>
            <a:endParaRPr lang="he-IL" sz="2400" dirty="0">
              <a:solidFill>
                <a:schemeClr val="dk2"/>
              </a:solidFill>
            </a:endParaRPr>
          </a:p>
          <a:p>
            <a:pPr marL="342900" lvl="0" indent="-3429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he-IL" sz="2400" dirty="0">
                <a:solidFill>
                  <a:schemeClr val="dk2"/>
                </a:solidFill>
              </a:rPr>
              <a:t>לנקוב במשאבים/השקעה נדרשים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6627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2" descr="A group of people sitting at a table in fron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040" y="3161431"/>
            <a:ext cx="11805920" cy="34832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2"/>
          <p:cNvSpPr txBox="1">
            <a:spLocks noGrp="1"/>
          </p:cNvSpPr>
          <p:nvPr>
            <p:ph type="body" idx="1"/>
          </p:nvPr>
        </p:nvSpPr>
        <p:spPr>
          <a:xfrm>
            <a:off x="750518" y="1240923"/>
            <a:ext cx="10515600" cy="12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6000"/>
              <a:buNone/>
            </a:pPr>
            <a:r>
              <a:rPr lang="iw-IL" sz="6000" b="1">
                <a:solidFill>
                  <a:schemeClr val="tx1"/>
                </a:solidFill>
                <a:latin typeface="Tahoma"/>
                <a:ea typeface="Tahoma"/>
                <a:cs typeface="Tahoma"/>
                <a:sym typeface="Tahoma"/>
              </a:rPr>
              <a:t>תודה!</a:t>
            </a:r>
            <a:endParaRPr sz="6000" b="1">
              <a:solidFill>
                <a:schemeClr val="tx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iw-IL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1629024" y="2481749"/>
            <a:ext cx="913793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he-IL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kumimoji="0" lang="iw-IL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rPr>
              <a:t>תמונות אנשי הצוות, שמותיהם ותפקידיהם</a:t>
            </a:r>
            <a:endParaRPr kumimoji="0" sz="20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96080906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565</Words>
  <Application>Microsoft Office PowerPoint</Application>
  <PresentationFormat>מסך רחב</PresentationFormat>
  <Paragraphs>103</Paragraphs>
  <Slides>14</Slides>
  <Notes>14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Tahoma</vt:lpstr>
      <vt:lpstr>ערכת נושא Office</vt:lpstr>
      <vt:lpstr>מצגת של PowerPoint‏</vt:lpstr>
      <vt:lpstr>מצגת של PowerPoint‏</vt:lpstr>
      <vt:lpstr>תיאור הבעיה</vt:lpstr>
      <vt:lpstr>מהלך הולידציה לבעיה</vt:lpstr>
      <vt:lpstr>הפתרון</vt:lpstr>
      <vt:lpstr>תיאור/הצגת הפתרון </vt:lpstr>
      <vt:lpstr>מהלך הולידציה לפתרון</vt:lpstr>
      <vt:lpstr>חזון וסקייל</vt:lpstr>
      <vt:lpstr>תוכנית עבודה</vt:lpstr>
      <vt:lpstr>תוכנית עסקית</vt:lpstr>
      <vt:lpstr>פרוט אופן בחינת הפתרון</vt:lpstr>
      <vt:lpstr>מדדים לבדיקת ההצלחה</vt:lpstr>
      <vt:lpstr>השלב הבא וקריאה לפעולה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Avichay cohen</dc:creator>
  <cp:lastModifiedBy>אביחי כהן</cp:lastModifiedBy>
  <cp:revision>6</cp:revision>
  <dcterms:created xsi:type="dcterms:W3CDTF">2023-07-03T15:10:43Z</dcterms:created>
  <dcterms:modified xsi:type="dcterms:W3CDTF">2026-06-22T07:42:47Z</dcterms:modified>
</cp:coreProperties>
</file>